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A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69848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5AAD"/>
                </a:solidFill>
              </a:defRPr>
            </a:pPr>
            <a:r>
              <a:t>Room2WORK</a:t>
            </a:r>
          </a:p>
          <a:p>
            <a:pPr>
              <a:defRPr sz="2000">
                <a:solidFill>
                  <a:srgbClr val="202C40"/>
                </a:solidFill>
              </a:defRPr>
            </a:pPr>
            <a:r>
              <a:t>Plataforma para reserva de salas de trabalho</a:t>
            </a:r>
          </a:p>
        </p:txBody>
      </p:sp>
      <p:sp>
        <p:nvSpPr>
          <p:cNvPr id="4" name="Oval 3"/>
          <p:cNvSpPr/>
          <p:nvPr/>
        </p:nvSpPr>
        <p:spPr>
          <a:xfrm>
            <a:off x="8412480" y="1371600"/>
            <a:ext cx="1920240" cy="1920240"/>
          </a:xfrm>
          <a:prstGeom prst="ellipse">
            <a:avLst/>
          </a:prstGeom>
          <a:solidFill>
            <a:srgbClr val="EBF4FF"/>
          </a:solidFill>
          <a:ln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1080" y="1874519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5AAD"/>
                </a:solidFill>
              </a:defRPr>
            </a:pPr>
            <a:r>
              <a:t>R2W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C40"/>
                </a:solidFill>
              </a:defRPr>
            </a:pPr>
            <a:r>
              <a:t>Projeto • Dezembro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5AAD"/>
          </a:solidFill>
          <a:ln>
            <a:solidFill>
              <a:srgbClr val="1A5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 que é o Room2WORK?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02C40"/>
                </a:solidFill>
              </a:defRPr>
            </a:pPr>
            <a:r>
              <a:t>Conecta usuários a salas de trabalho e reunião sob demanda.</a:t>
            </a:r>
          </a:p>
          <a:p>
            <a:pPr>
              <a:defRPr sz="2400">
                <a:solidFill>
                  <a:srgbClr val="202C40"/>
                </a:solidFill>
              </a:defRPr>
            </a:pPr>
            <a:r>
              <a:t>Reserva online rápida, segura e prática.</a:t>
            </a:r>
          </a:p>
          <a:p>
            <a:pPr>
              <a:defRPr sz="2400">
                <a:solidFill>
                  <a:srgbClr val="202C40"/>
                </a:solidFill>
              </a:defRPr>
            </a:pPr>
            <a:r>
              <a:t>Ideal para coworkings, reuniões e profissionais autônomos.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5AAD"/>
          </a:solidFill>
          <a:ln>
            <a:solidFill>
              <a:srgbClr val="1A5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Por que esse projeto?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9260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🏠</a:t>
            </a:r>
          </a:p>
          <a:p>
            <a:pPr algn="ctr">
              <a:defRPr sz="1800" b="1">
                <a:solidFill>
                  <a:srgbClr val="1A5AAD"/>
                </a:solidFill>
              </a:defRPr>
            </a:pPr>
            <a:r>
              <a:t>Problema</a:t>
            </a:r>
          </a:p>
          <a:p>
            <a:pPr algn="ctr">
              <a:defRPr sz="1500">
                <a:solidFill>
                  <a:srgbClr val="202C40"/>
                </a:solidFill>
              </a:defRPr>
            </a:pPr>
            <a:r>
              <a:t>Falta de estrutura e privacidade em casa.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29260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📍</a:t>
            </a:r>
          </a:p>
          <a:p>
            <a:pPr algn="ctr">
              <a:defRPr sz="1800" b="1">
                <a:solidFill>
                  <a:srgbClr val="1A5AAD"/>
                </a:solidFill>
              </a:defRPr>
            </a:pPr>
            <a:r>
              <a:t>Necessidade</a:t>
            </a:r>
          </a:p>
          <a:p>
            <a:pPr algn="ctr">
              <a:defRPr sz="1500">
                <a:solidFill>
                  <a:srgbClr val="202C40"/>
                </a:solidFill>
              </a:defRPr>
            </a:pPr>
            <a:r>
              <a:t>Dificuldade para encontrar e reservar salas.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1887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463040"/>
            <a:ext cx="29260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🤝</a:t>
            </a:r>
          </a:p>
          <a:p>
            <a:pPr algn="ctr">
              <a:defRPr sz="1800" b="1">
                <a:solidFill>
                  <a:srgbClr val="1A5AAD"/>
                </a:solidFill>
              </a:defRPr>
            </a:pPr>
            <a:r>
              <a:t>Oportunidade</a:t>
            </a:r>
          </a:p>
          <a:p>
            <a:pPr algn="ctr">
              <a:defRPr sz="1500">
                <a:solidFill>
                  <a:srgbClr val="202C40"/>
                </a:solidFill>
              </a:defRPr>
            </a:pPr>
            <a:r>
              <a:t>Crescimento do mercado de coworking.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5AAD"/>
          </a:solidFill>
          <a:ln>
            <a:solidFill>
              <a:srgbClr val="1A5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Objetivo e 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02C40"/>
                </a:solidFill>
              </a:defRPr>
            </a:pPr>
            <a:r>
              <a:t>Desenvolver uma plataforma web para intermediar a locação de salas temporárias.</a:t>
            </a:r>
          </a:p>
          <a:p>
            <a:pPr>
              <a:defRPr sz="2400">
                <a:solidFill>
                  <a:srgbClr val="202C40"/>
                </a:solidFill>
              </a:defRPr>
            </a:pPr>
            <a:r>
              <a:t>Pesquisa realizada via Google Forms com alunos, professores, amigos e familiares.</a:t>
            </a:r>
          </a:p>
          <a:p>
            <a:pPr>
              <a:defRPr sz="2400">
                <a:solidFill>
                  <a:srgbClr val="202C40"/>
                </a:solidFill>
              </a:defRPr>
            </a:pPr>
            <a:r>
              <a:t>77 respostas analisadas para validar a proposta.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5AAD"/>
          </a:solidFill>
          <a:ln>
            <a:solidFill>
              <a:srgbClr val="1A5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Coleta de dados • Perfil dos participantes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5303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43000"/>
            <a:ext cx="5157216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090672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AAD"/>
                </a:solidFill>
              </a:defRPr>
            </a:pPr>
            <a:r>
              <a:t>Sexo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14400"/>
            <a:ext cx="5303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143000"/>
            <a:ext cx="5157216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3090672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AAD"/>
                </a:solidFill>
              </a:defRPr>
            </a:pPr>
            <a:r>
              <a:t>Região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5303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886200"/>
            <a:ext cx="5157216" cy="192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833872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AAD"/>
                </a:solidFill>
              </a:defRPr>
            </a:pPr>
            <a:r>
              <a:t>Escolaridade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303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3886200"/>
            <a:ext cx="5157216" cy="1920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5833872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AAD"/>
                </a:solidFill>
              </a:defRPr>
            </a:pPr>
            <a:r>
              <a:t>Renda familiar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5AAD"/>
          </a:solidFill>
          <a:ln>
            <a:solidFill>
              <a:srgbClr val="1A5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Resultados • Interesse pela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840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02C40"/>
                </a:solidFill>
              </a:defRPr>
            </a:pPr>
            <a:r>
              <a:t>• A maioria considera a ideia interessante.</a:t>
            </a:r>
          </a:p>
          <a:p>
            <a:pPr>
              <a:defRPr sz="1800">
                <a:solidFill>
                  <a:srgbClr val="202C40"/>
                </a:solidFill>
              </a:defRPr>
            </a:pPr>
            <a:r>
              <a:t>• Grande intenção de utilizar a plataforma.</a:t>
            </a:r>
          </a:p>
          <a:p>
            <a:pPr>
              <a:defRPr sz="1800">
                <a:solidFill>
                  <a:srgbClr val="202C40"/>
                </a:solidFill>
              </a:defRPr>
            </a:pPr>
            <a:r>
              <a:t>• Fotos e informações detalhadas facilitam a escolha.</a:t>
            </a:r>
          </a:p>
          <a:p>
            <a:pPr>
              <a:defRPr sz="1800">
                <a:solidFill>
                  <a:srgbClr val="202C40"/>
                </a:solidFill>
              </a:defRPr>
            </a:pPr>
            <a:r>
              <a:t>• Filtros tornam a busca mais eficiente.</a:t>
            </a:r>
          </a:p>
        </p:txBody>
      </p:sp>
      <p:pic>
        <p:nvPicPr>
          <p:cNvPr id="5" name="Picture 4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108960" cy="2194560"/>
          </a:xfrm>
          <a:prstGeom prst="rect">
            <a:avLst/>
          </a:prstGeom>
        </p:spPr>
      </p:pic>
      <p:pic>
        <p:nvPicPr>
          <p:cNvPr id="6" name="Picture 5" descr="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914400"/>
            <a:ext cx="3108960" cy="2194560"/>
          </a:xfrm>
          <a:prstGeom prst="rect">
            <a:avLst/>
          </a:prstGeom>
        </p:spPr>
      </p:pic>
      <p:pic>
        <p:nvPicPr>
          <p:cNvPr id="7" name="Picture 6" descr="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474720"/>
            <a:ext cx="3108960" cy="2194560"/>
          </a:xfrm>
          <a:prstGeom prst="rect">
            <a:avLst/>
          </a:prstGeom>
        </p:spPr>
      </p:pic>
      <p:pic>
        <p:nvPicPr>
          <p:cNvPr id="8" name="Picture 7" descr="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474720"/>
            <a:ext cx="31089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5AAD"/>
          </a:solidFill>
          <a:ln>
            <a:solidFill>
              <a:srgbClr val="1A5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Resultados • Confiança no serviço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8404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02C40"/>
                </a:solidFill>
              </a:defRPr>
            </a:pPr>
            <a:r>
              <a:t>• Chat entre cliente e proprietário é valorizado.</a:t>
            </a:r>
          </a:p>
          <a:p>
            <a:pPr>
              <a:defRPr sz="1900">
                <a:solidFill>
                  <a:srgbClr val="202C40"/>
                </a:solidFill>
              </a:defRPr>
            </a:pPr>
            <a:r>
              <a:t>• Avaliações aumentam a confiança dos usuários.</a:t>
            </a:r>
          </a:p>
          <a:p>
            <a:pPr>
              <a:defRPr sz="1900">
                <a:solidFill>
                  <a:srgbClr val="202C40"/>
                </a:solidFill>
              </a:defRPr>
            </a:pPr>
            <a:r>
              <a:t>• Verificação dos estabelecimentos fortalece a credibilidade.</a:t>
            </a:r>
          </a:p>
        </p:txBody>
      </p:sp>
      <p:pic>
        <p:nvPicPr>
          <p:cNvPr id="5" name="Picture 4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6217920" cy="1554480"/>
          </a:xfrm>
          <a:prstGeom prst="rect">
            <a:avLst/>
          </a:prstGeom>
        </p:spPr>
      </p:pic>
      <p:pic>
        <p:nvPicPr>
          <p:cNvPr id="6" name="Picture 5" descr="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651760"/>
            <a:ext cx="6217920" cy="1554480"/>
          </a:xfrm>
          <a:prstGeom prst="rect">
            <a:avLst/>
          </a:prstGeom>
        </p:spPr>
      </p:pic>
      <p:pic>
        <p:nvPicPr>
          <p:cNvPr id="7" name="Picture 6" descr="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389120"/>
            <a:ext cx="621792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5AAD"/>
          </a:solidFill>
          <a:ln>
            <a:solidFill>
              <a:srgbClr val="1A5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68580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02C40"/>
                </a:solidFill>
              </a:defRPr>
            </a:pPr>
            <a:r>
              <a:t>O Room2WORK responde a uma demanda real por espaços de trabalho flexíveis.</a:t>
            </a:r>
          </a:p>
          <a:p>
            <a:pPr>
              <a:defRPr sz="2400">
                <a:solidFill>
                  <a:srgbClr val="202C40"/>
                </a:solidFill>
              </a:defRPr>
            </a:pPr>
            <a:r>
              <a:t>A pesquisa valida o interesse dos usuários e as principais funcionalidades desejadas.</a:t>
            </a:r>
          </a:p>
          <a:p>
            <a:pPr>
              <a:defRPr sz="2400">
                <a:solidFill>
                  <a:srgbClr val="202C40"/>
                </a:solidFill>
              </a:defRPr>
            </a:pPr>
            <a:r>
              <a:t>Próximo passo: desenvolver e lançar a plataforma.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2926080" cy="2926080"/>
          </a:xfrm>
          <a:prstGeom prst="roundRect">
            <a:avLst/>
          </a:prstGeom>
          <a:solidFill>
            <a:srgbClr val="EBF4FF"/>
          </a:solidFill>
          <a:ln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210312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5AAD"/>
                </a:solidFill>
              </a:defRPr>
            </a:pPr>
            <a: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